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66" r:id="rId3"/>
    <p:sldId id="257" r:id="rId4"/>
    <p:sldId id="267" r:id="rId5"/>
    <p:sldId id="258" r:id="rId6"/>
    <p:sldId id="259" r:id="rId7"/>
    <p:sldId id="268" r:id="rId8"/>
    <p:sldId id="270" r:id="rId9"/>
    <p:sldId id="260" r:id="rId10"/>
    <p:sldId id="262" r:id="rId11"/>
    <p:sldId id="263" r:id="rId12"/>
    <p:sldId id="264" r:id="rId13"/>
    <p:sldId id="271" r:id="rId14"/>
    <p:sldId id="272" r:id="rId15"/>
    <p:sldId id="265" r:id="rId16"/>
  </p:sldIdLst>
  <p:sldSz cx="14630400" cy="8229600"/>
  <p:notesSz cx="8229600" cy="14630400"/>
  <p:embeddedFontLst>
    <p:embeddedFont>
      <p:font typeface="Mukta Light" panose="020B0604020202020204" charset="0"/>
      <p:regular r:id="rId18"/>
    </p:embeddedFont>
    <p:embeddedFont>
      <p:font typeface="Prompt Medium" panose="00000600000000000000" pitchFamily="2" charset="-34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0" d="100"/>
          <a:sy n="80" d="100"/>
        </p:scale>
        <p:origin x="139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167491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BEC57B-8D81-3E56-4D05-E8886CB35B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966D57-69EC-2437-21B2-6B13B1EA0C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43C9D14-6B07-41A8-B1E0-3D34422587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9F9C7F-A17C-BB51-17AB-7727FF81513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21548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FE72F5-CCF1-97F7-4E4B-6660216C6D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86FE25-C6DC-F0A8-BE9B-5AD0EF4DED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D6B6FE-917E-0F0B-B22C-72CD7E6368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BC050A-6FEC-0DCF-78B5-3825C54F920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67217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B8757-6FC0-FB99-D8BB-BE0BDECF57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8DB9190-9A81-F854-3964-EEC8F45BEB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5C0077B-A9D9-9CAA-DBB1-EAE139A02D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B3D61F-A2EA-2E90-C8C0-9A7D25D0C94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143547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A9885F-C709-847F-050C-13DD4C1B6E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9A64803-0DD1-602E-CD9C-4B7671CB20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17B0EFF-F7AE-0B57-32F8-CEDE3B595F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B1EF97-3E3D-E5F4-EEFB-728B765D6F6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406812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B8D492-E524-CC1C-9998-3227EFC5BE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9C627DA-B57B-DECE-449C-CE5FB6430F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B46BDFF-7A85-FF54-2B24-42F0485DF0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A499F4-E47A-749F-BB06-C3283BAF58F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86150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0C23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0C23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0C23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0C23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0C23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0C23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0C23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0C23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0C23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-22302"/>
            <a:ext cx="14630400" cy="8229600"/>
          </a:xfrm>
          <a:prstGeom prst="rect">
            <a:avLst/>
          </a:prstGeom>
          <a:solidFill>
            <a:srgbClr val="0B0C23">
              <a:alpha val="95000"/>
            </a:srgbClr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792724" y="1036558"/>
            <a:ext cx="7415927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400"/>
              </a:lnSpc>
            </a:pPr>
            <a:r>
              <a:rPr lang="en-US" sz="4300" dirty="0">
                <a:solidFill>
                  <a:schemeClr val="bg1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Dr. Shyama Prasad Mukherjee University </a:t>
            </a:r>
            <a:endParaRPr lang="en-US" sz="4300" dirty="0">
              <a:solidFill>
                <a:schemeClr val="bg1"/>
              </a:solidFill>
            </a:endParaRPr>
          </a:p>
        </p:txBody>
      </p:sp>
      <p:sp>
        <p:nvSpPr>
          <p:cNvPr id="4" name="Text 1"/>
          <p:cNvSpPr/>
          <p:nvPr/>
        </p:nvSpPr>
        <p:spPr>
          <a:xfrm>
            <a:off x="1702236" y="3208258"/>
            <a:ext cx="7415927" cy="19752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3100"/>
              </a:lnSpc>
            </a:pPr>
            <a:r>
              <a:rPr lang="en-US" sz="2800" b="1" dirty="0">
                <a:solidFill>
                  <a:schemeClr val="bg1"/>
                </a:solidFill>
              </a:rPr>
              <a:t>Title:</a:t>
            </a:r>
            <a:br>
              <a:rPr lang="en-US" sz="2800" b="1" dirty="0">
                <a:solidFill>
                  <a:schemeClr val="bg1"/>
                </a:solidFill>
              </a:rPr>
            </a:br>
            <a:r>
              <a:rPr lang="en-US" sz="2800" b="1" dirty="0">
                <a:solidFill>
                  <a:schemeClr val="bg1"/>
                </a:solidFill>
              </a:rPr>
              <a:t>Khana Khazana</a:t>
            </a:r>
            <a:br>
              <a:rPr lang="en-US" sz="2800" b="1" dirty="0">
                <a:solidFill>
                  <a:schemeClr val="bg1"/>
                </a:solidFill>
              </a:rPr>
            </a:br>
            <a:r>
              <a:rPr lang="en-US" sz="2800" b="1" i="1" dirty="0">
                <a:solidFill>
                  <a:schemeClr val="bg1"/>
                </a:solidFill>
              </a:rPr>
              <a:t>Online Food Delivery Application </a:t>
            </a:r>
            <a:endParaRPr lang="en-US" sz="2800" b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6350437" y="5717143"/>
            <a:ext cx="4965263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endParaRPr lang="en-US" sz="19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9CF9AD8-5E24-885B-4DD2-552801C5BE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27675" y="236458"/>
            <a:ext cx="3191195" cy="29718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42E383F-22B1-6060-5BC6-408B5976E5D2}"/>
              </a:ext>
            </a:extLst>
          </p:cNvPr>
          <p:cNvSpPr txBox="1"/>
          <p:nvPr/>
        </p:nvSpPr>
        <p:spPr>
          <a:xfrm>
            <a:off x="1702236" y="5000625"/>
            <a:ext cx="10313552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</a:rPr>
              <a:t>Presented by</a:t>
            </a:r>
            <a:r>
              <a:rPr lang="en-US" sz="2800">
                <a:solidFill>
                  <a:schemeClr val="bg1"/>
                </a:solidFill>
              </a:rPr>
              <a:t>: Rahul Kumar</a:t>
            </a:r>
            <a:br>
              <a:rPr lang="en-US" sz="2800" dirty="0">
                <a:solidFill>
                  <a:schemeClr val="bg1"/>
                </a:solidFill>
              </a:rPr>
            </a:br>
            <a:r>
              <a:rPr lang="en-US" sz="2800" b="1" dirty="0">
                <a:solidFill>
                  <a:schemeClr val="bg1"/>
                </a:solidFill>
              </a:rPr>
              <a:t>Department</a:t>
            </a:r>
            <a:r>
              <a:rPr lang="en-US" sz="2800" dirty="0">
                <a:solidFill>
                  <a:schemeClr val="bg1"/>
                </a:solidFill>
              </a:rPr>
              <a:t>: MCA “A”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6D4BE9-E582-0419-2EDB-93D02A85C2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62E44F8B-938A-A4B7-AE9C-AA9E7739D478}"/>
              </a:ext>
            </a:extLst>
          </p:cNvPr>
          <p:cNvSpPr/>
          <p:nvPr/>
        </p:nvSpPr>
        <p:spPr>
          <a:xfrm>
            <a:off x="6350437" y="1722358"/>
            <a:ext cx="7415927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430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Food Delivery System</a:t>
            </a:r>
            <a:br>
              <a:rPr lang="en-US" sz="430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</a:br>
            <a:r>
              <a:rPr lang="en-US" sz="430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Introduction</a:t>
            </a:r>
            <a:endParaRPr lang="en-US" sz="430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AAFD8CCC-E380-9574-DEAD-F52DDDD88D49}"/>
              </a:ext>
            </a:extLst>
          </p:cNvPr>
          <p:cNvSpPr/>
          <p:nvPr/>
        </p:nvSpPr>
        <p:spPr>
          <a:xfrm>
            <a:off x="6350437" y="3464243"/>
            <a:ext cx="7415927" cy="19752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endParaRPr lang="en-US" sz="190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0FC38389-D1C2-0E16-52F1-1237252A7743}"/>
              </a:ext>
            </a:extLst>
          </p:cNvPr>
          <p:cNvSpPr/>
          <p:nvPr/>
        </p:nvSpPr>
        <p:spPr>
          <a:xfrm>
            <a:off x="6350437" y="3216831"/>
            <a:ext cx="7415927" cy="30268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400" dirty="0">
                <a:solidFill>
                  <a:schemeClr val="bg1"/>
                </a:solidFill>
              </a:rPr>
              <a:t>Khana Khazana is a web-based food delivery system.</a:t>
            </a:r>
          </a:p>
          <a:p>
            <a:r>
              <a:rPr lang="en-US" sz="2400" dirty="0">
                <a:solidFill>
                  <a:schemeClr val="bg1"/>
                </a:solidFill>
              </a:rPr>
              <a:t>Built using the </a:t>
            </a:r>
            <a:r>
              <a:rPr lang="en-US" sz="2400" b="1" dirty="0">
                <a:solidFill>
                  <a:schemeClr val="bg1"/>
                </a:solidFill>
              </a:rPr>
              <a:t>MERN Stack</a:t>
            </a:r>
            <a:r>
              <a:rPr lang="en-US" sz="2400" dirty="0">
                <a:solidFill>
                  <a:schemeClr val="bg1"/>
                </a:solidFill>
              </a:rPr>
              <a:t> (MongoDB, Express.js, React.js, Node.js).</a:t>
            </a:r>
          </a:p>
          <a:p>
            <a:r>
              <a:rPr lang="en-US" sz="2400" dirty="0">
                <a:solidFill>
                  <a:schemeClr val="bg1"/>
                </a:solidFill>
              </a:rPr>
              <a:t>Offers secure login, browsing of food menu, placing orders, and payment via </a:t>
            </a:r>
            <a:r>
              <a:rPr lang="en-US" sz="2400" b="1" dirty="0" err="1">
                <a:solidFill>
                  <a:schemeClr val="bg1"/>
                </a:solidFill>
              </a:rPr>
              <a:t>Razorpay</a:t>
            </a:r>
            <a:r>
              <a:rPr lang="en-US" sz="2400" dirty="0">
                <a:solidFill>
                  <a:schemeClr val="bg1"/>
                </a:solidFill>
              </a:rPr>
              <a:t>.</a:t>
            </a:r>
          </a:p>
          <a:p>
            <a:r>
              <a:rPr lang="en-US" sz="2400" dirty="0">
                <a:solidFill>
                  <a:schemeClr val="bg1"/>
                </a:solidFill>
              </a:rPr>
              <a:t>Users: Customer, Admin, Delivery Person.</a:t>
            </a:r>
          </a:p>
          <a:p>
            <a:r>
              <a:rPr lang="en-US" sz="2400" dirty="0">
                <a:solidFill>
                  <a:schemeClr val="bg1"/>
                </a:solidFill>
              </a:rPr>
              <a:t>Features real-time order tracking, admin dashboard, and payment integration.</a:t>
            </a:r>
          </a:p>
          <a:p>
            <a:pPr marL="0" indent="0" algn="l">
              <a:lnSpc>
                <a:spcPts val="3100"/>
              </a:lnSpc>
              <a:buNone/>
            </a:pPr>
            <a:endParaRPr lang="en-US" sz="19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D4E4070-B84B-5AC0-CF02-30824EDACC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960" y="173519"/>
            <a:ext cx="4638853" cy="7882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67895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037" y="434890"/>
            <a:ext cx="7253645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5400"/>
              </a:lnSpc>
            </a:pPr>
            <a:r>
              <a:rPr lang="en-US" sz="430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Tools Description </a:t>
            </a:r>
            <a:endParaRPr lang="en-US" sz="4300" dirty="0"/>
          </a:p>
        </p:txBody>
      </p:sp>
      <p:sp>
        <p:nvSpPr>
          <p:cNvPr id="3" name="Text 1"/>
          <p:cNvSpPr/>
          <p:nvPr/>
        </p:nvSpPr>
        <p:spPr>
          <a:xfrm>
            <a:off x="864037" y="3570208"/>
            <a:ext cx="4193738" cy="3744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endParaRPr lang="en-US" sz="2150" dirty="0"/>
          </a:p>
        </p:txBody>
      </p:sp>
      <p:sp>
        <p:nvSpPr>
          <p:cNvPr id="5" name="Text 3"/>
          <p:cNvSpPr/>
          <p:nvPr/>
        </p:nvSpPr>
        <p:spPr>
          <a:xfrm>
            <a:off x="5372695" y="3570208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endParaRPr lang="en-US" sz="2150" dirty="0"/>
          </a:p>
        </p:txBody>
      </p:sp>
      <p:sp>
        <p:nvSpPr>
          <p:cNvPr id="6" name="Text 4"/>
          <p:cNvSpPr/>
          <p:nvPr/>
        </p:nvSpPr>
        <p:spPr>
          <a:xfrm>
            <a:off x="5372695" y="4159925"/>
            <a:ext cx="3898821" cy="15801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9881354" y="3570208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endParaRPr lang="en-US" sz="2150" dirty="0"/>
          </a:p>
        </p:txBody>
      </p:sp>
      <p:sp>
        <p:nvSpPr>
          <p:cNvPr id="8" name="Text 6"/>
          <p:cNvSpPr/>
          <p:nvPr/>
        </p:nvSpPr>
        <p:spPr>
          <a:xfrm>
            <a:off x="9881354" y="4159925"/>
            <a:ext cx="3898821" cy="1185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endParaRPr lang="en-US" sz="1900" dirty="0"/>
          </a:p>
        </p:txBody>
      </p:sp>
      <p:sp>
        <p:nvSpPr>
          <p:cNvPr id="14" name="Rectangle 5">
            <a:extLst>
              <a:ext uri="{FF2B5EF4-FFF2-40B4-BE49-F238E27FC236}">
                <a16:creationId xmlns:a16="http://schemas.microsoft.com/office/drawing/2014/main" id="{D3138BCF-C0EF-0629-5035-A78BDE0D8D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4037" y="1713101"/>
            <a:ext cx="7285969" cy="48936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MongoDB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: Stores users, orders, menu items.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Express.js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: Handles backend logic and APIs.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React.js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: User interface, responsive design.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Node.js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: Runs backend server.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Razorpay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: Online payment integration.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Postman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: Testing API endpoints.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VS Code / GitHub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: Development &amp; version control.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327B7B-AEDA-D0A5-7D4B-345585D417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010EB69-ACA6-977E-2727-F6163D47D1F3}"/>
              </a:ext>
            </a:extLst>
          </p:cNvPr>
          <p:cNvSpPr/>
          <p:nvPr/>
        </p:nvSpPr>
        <p:spPr>
          <a:xfrm>
            <a:off x="864037" y="2267307"/>
            <a:ext cx="7253645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430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Project Structure Overview</a:t>
            </a:r>
            <a:endParaRPr lang="en-US" sz="43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8289B75-D8FA-276F-D94E-6A52870F3652}"/>
              </a:ext>
            </a:extLst>
          </p:cNvPr>
          <p:cNvSpPr/>
          <p:nvPr/>
        </p:nvSpPr>
        <p:spPr>
          <a:xfrm>
            <a:off x="864037" y="3570208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Admin Folder</a:t>
            </a:r>
            <a:endParaRPr lang="en-US" sz="215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3C6C7152-1C70-5C5E-55F6-7F4BE2B957E7}"/>
              </a:ext>
            </a:extLst>
          </p:cNvPr>
          <p:cNvSpPr/>
          <p:nvPr/>
        </p:nvSpPr>
        <p:spPr>
          <a:xfrm>
            <a:off x="864037" y="4159925"/>
            <a:ext cx="3898821" cy="15801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Contains assets, reusable UI components like Navbar and Sidebar, and pages for adding, listing, and managing orders.</a:t>
            </a:r>
            <a:endParaRPr lang="en-US" sz="19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12B9ABC6-886D-AC92-0310-552F1EE4DCCA}"/>
              </a:ext>
            </a:extLst>
          </p:cNvPr>
          <p:cNvSpPr/>
          <p:nvPr/>
        </p:nvSpPr>
        <p:spPr>
          <a:xfrm>
            <a:off x="5372695" y="3570208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Backend Folder</a:t>
            </a:r>
            <a:endParaRPr lang="en-US" sz="215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3C35923E-03FE-7C40-A439-92C07BBB1156}"/>
              </a:ext>
            </a:extLst>
          </p:cNvPr>
          <p:cNvSpPr/>
          <p:nvPr/>
        </p:nvSpPr>
        <p:spPr>
          <a:xfrm>
            <a:off x="5372695" y="4159925"/>
            <a:ext cx="3898821" cy="15801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Includes configuration files, controllers for business logic, models defining database schemas, routes for API endpoints, and the main server file.</a:t>
            </a:r>
            <a:endParaRPr lang="en-US" sz="19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CD3FCFEB-1B01-D1AE-C8A9-DBEF7D1E8531}"/>
              </a:ext>
            </a:extLst>
          </p:cNvPr>
          <p:cNvSpPr/>
          <p:nvPr/>
        </p:nvSpPr>
        <p:spPr>
          <a:xfrm>
            <a:off x="9881354" y="3570208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Frontend Folder</a:t>
            </a:r>
            <a:endParaRPr lang="en-US" sz="215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FB541446-C5B2-7EC9-8645-59488EF9BE31}"/>
              </a:ext>
            </a:extLst>
          </p:cNvPr>
          <p:cNvSpPr/>
          <p:nvPr/>
        </p:nvSpPr>
        <p:spPr>
          <a:xfrm>
            <a:off x="9881354" y="4159925"/>
            <a:ext cx="3898821" cy="1185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Houses the React source code, components, pages, styles, and entry points for the client-side application.</a:t>
            </a:r>
            <a:endParaRPr lang="en-US" sz="1900" dirty="0"/>
          </a:p>
        </p:txBody>
      </p:sp>
    </p:spTree>
    <p:extLst>
      <p:ext uri="{BB962C8B-B14F-4D97-AF65-F5344CB8AC3E}">
        <p14:creationId xmlns:p14="http://schemas.microsoft.com/office/powerpoint/2010/main" val="32809567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79594" y="624840"/>
            <a:ext cx="5036225" cy="6294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950"/>
              </a:lnSpc>
              <a:buNone/>
            </a:pPr>
            <a:r>
              <a:rPr lang="en-US" sz="395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Modules</a:t>
            </a:r>
            <a:endParaRPr lang="en-US" sz="3950" dirty="0"/>
          </a:p>
        </p:txBody>
      </p:sp>
      <p:sp>
        <p:nvSpPr>
          <p:cNvPr id="5" name="Text 2"/>
          <p:cNvSpPr/>
          <p:nvPr/>
        </p:nvSpPr>
        <p:spPr>
          <a:xfrm>
            <a:off x="6383476" y="1660327"/>
            <a:ext cx="302062" cy="377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endParaRPr lang="en-US" sz="2350" dirty="0"/>
          </a:p>
        </p:txBody>
      </p:sp>
      <p:sp>
        <p:nvSpPr>
          <p:cNvPr id="6" name="Text 3"/>
          <p:cNvSpPr/>
          <p:nvPr/>
        </p:nvSpPr>
        <p:spPr>
          <a:xfrm>
            <a:off x="13399472" y="5403456"/>
            <a:ext cx="2518053" cy="3146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endParaRPr lang="en-US" sz="1950" dirty="0"/>
          </a:p>
        </p:txBody>
      </p:sp>
      <p:sp>
        <p:nvSpPr>
          <p:cNvPr id="7" name="Text 4"/>
          <p:cNvSpPr/>
          <p:nvPr/>
        </p:nvSpPr>
        <p:spPr>
          <a:xfrm>
            <a:off x="4626757" y="2587704"/>
            <a:ext cx="6821210" cy="3624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.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7015996" y="3016210"/>
            <a:ext cx="3710345" cy="3146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endParaRPr lang="en-US" sz="1950" dirty="0"/>
          </a:p>
        </p:txBody>
      </p:sp>
      <p:sp>
        <p:nvSpPr>
          <p:cNvPr id="11" name="Text 8"/>
          <p:cNvSpPr/>
          <p:nvPr/>
        </p:nvSpPr>
        <p:spPr>
          <a:xfrm>
            <a:off x="7015996" y="3466862"/>
            <a:ext cx="6821210" cy="7248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14" name="Text 11"/>
          <p:cNvSpPr/>
          <p:nvPr/>
        </p:nvSpPr>
        <p:spPr>
          <a:xfrm>
            <a:off x="7015996" y="4722733"/>
            <a:ext cx="3757613" cy="3146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endParaRPr lang="en-US" sz="1950" dirty="0"/>
          </a:p>
        </p:txBody>
      </p:sp>
      <p:sp>
        <p:nvSpPr>
          <p:cNvPr id="15" name="Text 12"/>
          <p:cNvSpPr/>
          <p:nvPr/>
        </p:nvSpPr>
        <p:spPr>
          <a:xfrm>
            <a:off x="7015996" y="5173385"/>
            <a:ext cx="6821210" cy="7248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17" name="Text 14"/>
          <p:cNvSpPr/>
          <p:nvPr/>
        </p:nvSpPr>
        <p:spPr>
          <a:xfrm>
            <a:off x="6383476" y="6417469"/>
            <a:ext cx="302062" cy="377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endParaRPr lang="en-US" sz="2350" dirty="0"/>
          </a:p>
        </p:txBody>
      </p:sp>
      <p:sp>
        <p:nvSpPr>
          <p:cNvPr id="19" name="Text 16"/>
          <p:cNvSpPr/>
          <p:nvPr/>
        </p:nvSpPr>
        <p:spPr>
          <a:xfrm>
            <a:off x="7015996" y="6879908"/>
            <a:ext cx="6821210" cy="7248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20" name="Rectangle 1">
            <a:extLst>
              <a:ext uri="{FF2B5EF4-FFF2-40B4-BE49-F238E27FC236}">
                <a16:creationId xmlns:a16="http://schemas.microsoft.com/office/drawing/2014/main" id="{D22C8D33-A574-03E7-B9AC-6B723DEFDC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47457" y="1523822"/>
            <a:ext cx="8031366" cy="48936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User Module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: Sign up, place orders, track status.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Admin Module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: Manage menu &amp; orders.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Delivery Module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: Update delivery status.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Cart &amp; Checkout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: Add to cart, pay securely.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Payment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Razorpay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integration.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Authentication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: JWT-based security.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API Services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: Handle frontend-backend communication.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037" y="734378"/>
            <a:ext cx="5489258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5400"/>
              </a:lnSpc>
            </a:pPr>
            <a:r>
              <a:rPr lang="en-US" sz="4400" b="1" dirty="0">
                <a:solidFill>
                  <a:schemeClr val="bg2"/>
                </a:solidFill>
              </a:rPr>
              <a:t>Entity Relationship Diagram (ERD)</a:t>
            </a:r>
            <a:endParaRPr lang="en-US" sz="4300" b="1" dirty="0">
              <a:solidFill>
                <a:schemeClr val="bg2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864037" y="3551753"/>
            <a:ext cx="2874407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endParaRPr lang="en-US" sz="2150" dirty="0"/>
          </a:p>
        </p:txBody>
      </p:sp>
      <p:sp>
        <p:nvSpPr>
          <p:cNvPr id="4" name="Text 2"/>
          <p:cNvSpPr/>
          <p:nvPr/>
        </p:nvSpPr>
        <p:spPr>
          <a:xfrm>
            <a:off x="864037" y="4141470"/>
            <a:ext cx="6150054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ts val="3100"/>
              </a:lnSpc>
              <a:buSzPct val="100000"/>
            </a:pP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864037" y="4622840"/>
            <a:ext cx="6150054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3100"/>
              </a:lnSpc>
              <a:buSzPct val="100000"/>
            </a:pP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864037" y="5499259"/>
            <a:ext cx="6150054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ts val="3100"/>
              </a:lnSpc>
              <a:buSzPct val="100000"/>
            </a:pP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7623929" y="3551753"/>
            <a:ext cx="2925961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endParaRPr lang="en-US" sz="2150" dirty="0"/>
          </a:p>
        </p:txBody>
      </p:sp>
      <p:sp>
        <p:nvSpPr>
          <p:cNvPr id="8" name="Text 6"/>
          <p:cNvSpPr/>
          <p:nvPr/>
        </p:nvSpPr>
        <p:spPr>
          <a:xfrm>
            <a:off x="7623929" y="4141470"/>
            <a:ext cx="6150054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ts val="3100"/>
              </a:lnSpc>
              <a:buSzPct val="100000"/>
            </a:pP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7623929" y="4622840"/>
            <a:ext cx="6150054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3100"/>
              </a:lnSpc>
              <a:buSzPct val="100000"/>
            </a:pP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7623929" y="5499259"/>
            <a:ext cx="6150054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ts val="3100"/>
              </a:lnSpc>
              <a:buSzPct val="100000"/>
            </a:pPr>
            <a:endParaRPr lang="en-US" sz="19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D5A6AC65-83E3-BC4D-5C7E-8398D826E2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61905" y="1769898"/>
            <a:ext cx="6906589" cy="572532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2B5F54-75C5-0EE5-A627-8A419D13FD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090EA7C-22BB-2D93-6276-32236DF4DD48}"/>
              </a:ext>
            </a:extLst>
          </p:cNvPr>
          <p:cNvSpPr/>
          <p:nvPr/>
        </p:nvSpPr>
        <p:spPr>
          <a:xfrm>
            <a:off x="864037" y="734378"/>
            <a:ext cx="9980176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5400"/>
              </a:lnSpc>
            </a:pPr>
            <a:r>
              <a:rPr lang="en-US" sz="4400" b="1" dirty="0">
                <a:solidFill>
                  <a:schemeClr val="bg2"/>
                </a:solidFill>
              </a:rPr>
              <a:t>Data Flow Diagram (DFD) </a:t>
            </a:r>
            <a:endParaRPr lang="en-US" sz="4300" b="1" dirty="0">
              <a:solidFill>
                <a:schemeClr val="bg2"/>
              </a:solidFill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DD5E687-BFDE-3D65-1A12-382C18887665}"/>
              </a:ext>
            </a:extLst>
          </p:cNvPr>
          <p:cNvSpPr/>
          <p:nvPr/>
        </p:nvSpPr>
        <p:spPr>
          <a:xfrm>
            <a:off x="864037" y="3551753"/>
            <a:ext cx="2874407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endParaRPr lang="en-US" sz="215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0D724DA-0EEF-414E-0C5C-08487FC8C673}"/>
              </a:ext>
            </a:extLst>
          </p:cNvPr>
          <p:cNvSpPr/>
          <p:nvPr/>
        </p:nvSpPr>
        <p:spPr>
          <a:xfrm>
            <a:off x="864037" y="4141470"/>
            <a:ext cx="6150054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ts val="3100"/>
              </a:lnSpc>
              <a:buSzPct val="100000"/>
            </a:pPr>
            <a:endParaRPr lang="en-US" sz="19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DBEFEB42-FE8F-E978-CF32-829426FFDDBF}"/>
              </a:ext>
            </a:extLst>
          </p:cNvPr>
          <p:cNvSpPr/>
          <p:nvPr/>
        </p:nvSpPr>
        <p:spPr>
          <a:xfrm>
            <a:off x="864037" y="4622840"/>
            <a:ext cx="6150054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3100"/>
              </a:lnSpc>
              <a:buSzPct val="100000"/>
            </a:pPr>
            <a:endParaRPr lang="en-US" sz="19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1E92C5AC-1258-E0A1-FB4C-9B308B5F00C1}"/>
              </a:ext>
            </a:extLst>
          </p:cNvPr>
          <p:cNvSpPr/>
          <p:nvPr/>
        </p:nvSpPr>
        <p:spPr>
          <a:xfrm>
            <a:off x="864037" y="5499259"/>
            <a:ext cx="6150054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ts val="3100"/>
              </a:lnSpc>
              <a:buSzPct val="100000"/>
            </a:pPr>
            <a:endParaRPr lang="en-US" sz="19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AF7C8957-2F0B-EF38-EAC0-572D2A3AA7D9}"/>
              </a:ext>
            </a:extLst>
          </p:cNvPr>
          <p:cNvSpPr/>
          <p:nvPr/>
        </p:nvSpPr>
        <p:spPr>
          <a:xfrm>
            <a:off x="7623929" y="3551753"/>
            <a:ext cx="2925961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endParaRPr lang="en-US" sz="215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24B77FD0-0E53-79FD-17F5-6066C4447770}"/>
              </a:ext>
            </a:extLst>
          </p:cNvPr>
          <p:cNvSpPr/>
          <p:nvPr/>
        </p:nvSpPr>
        <p:spPr>
          <a:xfrm>
            <a:off x="7623929" y="4141470"/>
            <a:ext cx="6150054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ts val="3100"/>
              </a:lnSpc>
              <a:buSzPct val="100000"/>
            </a:pPr>
            <a:endParaRPr lang="en-US" sz="19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FA2EAB68-99AF-7603-ED12-F1F979C89B00}"/>
              </a:ext>
            </a:extLst>
          </p:cNvPr>
          <p:cNvSpPr/>
          <p:nvPr/>
        </p:nvSpPr>
        <p:spPr>
          <a:xfrm>
            <a:off x="7623929" y="4622840"/>
            <a:ext cx="6150054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3100"/>
              </a:lnSpc>
              <a:buSzPct val="100000"/>
            </a:pPr>
            <a:endParaRPr lang="en-US" sz="19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BE8925F7-5AF7-D89B-A1F1-04FE5A1BCBBA}"/>
              </a:ext>
            </a:extLst>
          </p:cNvPr>
          <p:cNvSpPr/>
          <p:nvPr/>
        </p:nvSpPr>
        <p:spPr>
          <a:xfrm>
            <a:off x="7623929" y="5499259"/>
            <a:ext cx="6150054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ts val="3100"/>
              </a:lnSpc>
              <a:buSzPct val="100000"/>
            </a:pPr>
            <a:endParaRPr lang="en-US" sz="19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B44C918-AB03-A764-A4FB-0C8714FE09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04377" y="2109507"/>
            <a:ext cx="9821646" cy="4010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38982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720E0A9-CFD1-556D-2642-24879DA5E9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3811" y="1347485"/>
            <a:ext cx="7902777" cy="5196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44986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30861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4037" y="3943350"/>
            <a:ext cx="6368177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430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Key Features of Foodify</a:t>
            </a:r>
            <a:endParaRPr lang="en-US" sz="4300" dirty="0"/>
          </a:p>
        </p:txBody>
      </p:sp>
      <p:sp>
        <p:nvSpPr>
          <p:cNvPr id="4" name="Shape 1"/>
          <p:cNvSpPr/>
          <p:nvPr/>
        </p:nvSpPr>
        <p:spPr>
          <a:xfrm>
            <a:off x="864037" y="4999434"/>
            <a:ext cx="6327815" cy="2372916"/>
          </a:xfrm>
          <a:prstGeom prst="roundRect">
            <a:avLst>
              <a:gd name="adj" fmla="val 4370"/>
            </a:avLst>
          </a:prstGeom>
          <a:solidFill>
            <a:srgbClr val="542C49"/>
          </a:solidFill>
          <a:ln w="15240">
            <a:solidFill>
              <a:srgbClr val="6D4562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126093" y="5261491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Admin Features</a:t>
            </a:r>
            <a:endParaRPr lang="en-US" sz="2150" dirty="0"/>
          </a:p>
        </p:txBody>
      </p:sp>
      <p:sp>
        <p:nvSpPr>
          <p:cNvPr id="6" name="Text 3"/>
          <p:cNvSpPr/>
          <p:nvPr/>
        </p:nvSpPr>
        <p:spPr>
          <a:xfrm>
            <a:off x="1126093" y="5752505"/>
            <a:ext cx="5803702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Add and delete food items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1126093" y="6233874"/>
            <a:ext cx="5803702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View food lists and orders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1126093" y="6715244"/>
            <a:ext cx="5803702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Edit order status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7438668" y="4999434"/>
            <a:ext cx="6327815" cy="2372916"/>
          </a:xfrm>
          <a:prstGeom prst="roundRect">
            <a:avLst>
              <a:gd name="adj" fmla="val 4370"/>
            </a:avLst>
          </a:prstGeom>
          <a:solidFill>
            <a:srgbClr val="542C49"/>
          </a:solidFill>
          <a:ln w="15240">
            <a:solidFill>
              <a:srgbClr val="6D456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700724" y="5261491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Customer Features</a:t>
            </a:r>
            <a:endParaRPr lang="en-US" sz="2150" dirty="0"/>
          </a:p>
        </p:txBody>
      </p:sp>
      <p:sp>
        <p:nvSpPr>
          <p:cNvPr id="11" name="Text 8"/>
          <p:cNvSpPr/>
          <p:nvPr/>
        </p:nvSpPr>
        <p:spPr>
          <a:xfrm>
            <a:off x="7700724" y="5752505"/>
            <a:ext cx="5803702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Sign up and login</a:t>
            </a:r>
            <a:endParaRPr lang="en-US" sz="1900" dirty="0"/>
          </a:p>
        </p:txBody>
      </p:sp>
      <p:sp>
        <p:nvSpPr>
          <p:cNvPr id="12" name="Text 9"/>
          <p:cNvSpPr/>
          <p:nvPr/>
        </p:nvSpPr>
        <p:spPr>
          <a:xfrm>
            <a:off x="7700724" y="6233874"/>
            <a:ext cx="5803702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Browse food by category</a:t>
            </a:r>
            <a:endParaRPr lang="en-US" sz="1900" dirty="0"/>
          </a:p>
        </p:txBody>
      </p:sp>
      <p:sp>
        <p:nvSpPr>
          <p:cNvPr id="13" name="Text 10"/>
          <p:cNvSpPr/>
          <p:nvPr/>
        </p:nvSpPr>
        <p:spPr>
          <a:xfrm>
            <a:off x="7700724" y="6715244"/>
            <a:ext cx="5803702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Place orders and track status</a:t>
            </a:r>
            <a:endParaRPr lang="en-US" sz="1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0150" y="1184910"/>
            <a:ext cx="3086100" cy="585978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350437" y="924639"/>
            <a:ext cx="6916222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430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Admin Panel Functionality</a:t>
            </a:r>
            <a:endParaRPr lang="en-US" sz="4300" dirty="0"/>
          </a:p>
        </p:txBody>
      </p:sp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437" y="1980724"/>
            <a:ext cx="1234440" cy="1774746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7955161" y="2227540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Add Food</a:t>
            </a:r>
            <a:endParaRPr lang="en-US" sz="2150" dirty="0"/>
          </a:p>
        </p:txBody>
      </p:sp>
      <p:sp>
        <p:nvSpPr>
          <p:cNvPr id="7" name="Text 2"/>
          <p:cNvSpPr/>
          <p:nvPr/>
        </p:nvSpPr>
        <p:spPr>
          <a:xfrm>
            <a:off x="7955161" y="2718554"/>
            <a:ext cx="5811203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Admins can upload images, enter product details, and add new food items to the menu.</a:t>
            </a:r>
            <a:endParaRPr lang="en-US" sz="1900" dirty="0"/>
          </a:p>
        </p:txBody>
      </p:sp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437" y="3755469"/>
            <a:ext cx="1234440" cy="1774746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7955161" y="4002286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List Foods</a:t>
            </a:r>
            <a:endParaRPr lang="en-US" sz="2150" dirty="0"/>
          </a:p>
        </p:txBody>
      </p:sp>
      <p:sp>
        <p:nvSpPr>
          <p:cNvPr id="10" name="Text 4"/>
          <p:cNvSpPr/>
          <p:nvPr/>
        </p:nvSpPr>
        <p:spPr>
          <a:xfrm>
            <a:off x="7955161" y="4493300"/>
            <a:ext cx="5811203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View all food items with options to delete unwanted entries.</a:t>
            </a:r>
            <a:endParaRPr lang="en-US" sz="1900" dirty="0"/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50437" y="5530215"/>
            <a:ext cx="1234440" cy="1774746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7955161" y="5777032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Manage Orders</a:t>
            </a:r>
            <a:endParaRPr lang="en-US" sz="2150" dirty="0"/>
          </a:p>
        </p:txBody>
      </p:sp>
      <p:sp>
        <p:nvSpPr>
          <p:cNvPr id="13" name="Text 6"/>
          <p:cNvSpPr/>
          <p:nvPr/>
        </p:nvSpPr>
        <p:spPr>
          <a:xfrm>
            <a:off x="7955161" y="6268045"/>
            <a:ext cx="5811203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Track orders, update statuses such as processing, delivery, and completed.</a:t>
            </a:r>
            <a:endParaRPr lang="en-US" sz="1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74630" y="1036320"/>
            <a:ext cx="3025140" cy="615696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864037" y="1631037"/>
            <a:ext cx="7415927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430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Frontend Project and Dependencies</a:t>
            </a:r>
            <a:endParaRPr lang="en-US" sz="4300" dirty="0"/>
          </a:p>
        </p:txBody>
      </p:sp>
      <p:sp>
        <p:nvSpPr>
          <p:cNvPr id="5" name="Shape 1"/>
          <p:cNvSpPr/>
          <p:nvPr/>
        </p:nvSpPr>
        <p:spPr>
          <a:xfrm>
            <a:off x="864037" y="3372922"/>
            <a:ext cx="555427" cy="555427"/>
          </a:xfrm>
          <a:prstGeom prst="roundRect">
            <a:avLst>
              <a:gd name="adj" fmla="val 18669"/>
            </a:avLst>
          </a:prstGeom>
          <a:solidFill>
            <a:srgbClr val="542C49"/>
          </a:solidFill>
          <a:ln w="15240">
            <a:solidFill>
              <a:srgbClr val="6D4562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1666280" y="3457694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Core Libraries</a:t>
            </a:r>
            <a:endParaRPr lang="en-US" sz="2150" dirty="0"/>
          </a:p>
        </p:txBody>
      </p:sp>
      <p:sp>
        <p:nvSpPr>
          <p:cNvPr id="7" name="Text 3"/>
          <p:cNvSpPr/>
          <p:nvPr/>
        </p:nvSpPr>
        <p:spPr>
          <a:xfrm>
            <a:off x="1666280" y="3948708"/>
            <a:ext cx="2751415" cy="1185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React, React DOM, React Router DOM for UI and routing.</a:t>
            </a:r>
            <a:endParaRPr lang="en-US" sz="1900" dirty="0"/>
          </a:p>
        </p:txBody>
      </p:sp>
      <p:sp>
        <p:nvSpPr>
          <p:cNvPr id="8" name="Shape 4"/>
          <p:cNvSpPr/>
          <p:nvPr/>
        </p:nvSpPr>
        <p:spPr>
          <a:xfrm>
            <a:off x="4726305" y="3372922"/>
            <a:ext cx="555427" cy="555427"/>
          </a:xfrm>
          <a:prstGeom prst="roundRect">
            <a:avLst>
              <a:gd name="adj" fmla="val 18669"/>
            </a:avLst>
          </a:prstGeom>
          <a:solidFill>
            <a:srgbClr val="542C49"/>
          </a:solidFill>
          <a:ln w="15240">
            <a:solidFill>
              <a:srgbClr val="6D4562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5528548" y="3457694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Utilities</a:t>
            </a:r>
            <a:endParaRPr lang="en-US" sz="2150" dirty="0"/>
          </a:p>
        </p:txBody>
      </p:sp>
      <p:sp>
        <p:nvSpPr>
          <p:cNvPr id="10" name="Text 6"/>
          <p:cNvSpPr/>
          <p:nvPr/>
        </p:nvSpPr>
        <p:spPr>
          <a:xfrm>
            <a:off x="5528548" y="3948708"/>
            <a:ext cx="2751415" cy="1185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Axios for HTTP requests, React Toastify for notifications.</a:t>
            </a:r>
            <a:endParaRPr lang="en-US" sz="1900" dirty="0"/>
          </a:p>
        </p:txBody>
      </p:sp>
      <p:sp>
        <p:nvSpPr>
          <p:cNvPr id="11" name="Shape 7"/>
          <p:cNvSpPr/>
          <p:nvPr/>
        </p:nvSpPr>
        <p:spPr>
          <a:xfrm>
            <a:off x="864037" y="5627608"/>
            <a:ext cx="555427" cy="555427"/>
          </a:xfrm>
          <a:prstGeom prst="roundRect">
            <a:avLst>
              <a:gd name="adj" fmla="val 18669"/>
            </a:avLst>
          </a:prstGeom>
          <a:solidFill>
            <a:srgbClr val="542C49"/>
          </a:solidFill>
          <a:ln w="15240">
            <a:solidFill>
              <a:srgbClr val="6D4562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1666280" y="5712381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Build &amp; Testing</a:t>
            </a:r>
            <a:endParaRPr lang="en-US" sz="2150" dirty="0"/>
          </a:p>
        </p:txBody>
      </p:sp>
      <p:sp>
        <p:nvSpPr>
          <p:cNvPr id="13" name="Text 9"/>
          <p:cNvSpPr/>
          <p:nvPr/>
        </p:nvSpPr>
        <p:spPr>
          <a:xfrm>
            <a:off x="1666280" y="6203394"/>
            <a:ext cx="6613684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React Scripts for building, Jest and Testing Library for tests.</a:t>
            </a:r>
            <a:endParaRPr lang="en-US" sz="1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037" y="1291590"/>
            <a:ext cx="5486400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5400"/>
              </a:lnSpc>
            </a:pPr>
            <a:r>
              <a:rPr lang="en-US" sz="4400" b="1" dirty="0">
                <a:solidFill>
                  <a:schemeClr val="bg2"/>
                </a:solidFill>
              </a:rPr>
              <a:t>Limitations</a:t>
            </a:r>
            <a:endParaRPr lang="en-US" sz="4300" b="1" dirty="0">
              <a:solidFill>
                <a:schemeClr val="bg2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1C5CC37-5939-1E17-A4C7-DEE0CD6ED9AD}"/>
              </a:ext>
            </a:extLst>
          </p:cNvPr>
          <p:cNvSpPr txBox="1"/>
          <p:nvPr/>
        </p:nvSpPr>
        <p:spPr>
          <a:xfrm>
            <a:off x="1485900" y="2370475"/>
            <a:ext cx="7315200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2"/>
                </a:solidFill>
              </a:rPr>
              <a:t>No live map-based delivery tracking</a:t>
            </a:r>
          </a:p>
          <a:p>
            <a:pPr lvl="1"/>
            <a:endParaRPr lang="en-US" sz="2400" dirty="0">
              <a:solidFill>
                <a:schemeClr val="bg2"/>
              </a:solidFill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2"/>
                </a:solidFill>
              </a:rPr>
              <a:t>Single admin panel (no role separation)</a:t>
            </a:r>
          </a:p>
          <a:p>
            <a:pPr lvl="1"/>
            <a:endParaRPr lang="en-US" sz="2400" dirty="0">
              <a:solidFill>
                <a:schemeClr val="bg2"/>
              </a:solidFill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2"/>
                </a:solidFill>
              </a:rPr>
              <a:t>No email/SMS notifications</a:t>
            </a:r>
          </a:p>
          <a:p>
            <a:pPr lvl="1"/>
            <a:endParaRPr lang="en-US" sz="2400" dirty="0">
              <a:solidFill>
                <a:schemeClr val="bg2"/>
              </a:solidFill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2"/>
                </a:solidFill>
              </a:rPr>
              <a:t>No user ratings or feedback</a:t>
            </a:r>
          </a:p>
          <a:p>
            <a:pPr lvl="1"/>
            <a:endParaRPr lang="en-US" sz="2400" dirty="0">
              <a:solidFill>
                <a:schemeClr val="bg2"/>
              </a:solidFill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2"/>
                </a:solidFill>
              </a:rPr>
              <a:t>Only one payment gateway (</a:t>
            </a:r>
            <a:r>
              <a:rPr lang="en-US" sz="2400" dirty="0" err="1">
                <a:solidFill>
                  <a:schemeClr val="bg2"/>
                </a:solidFill>
              </a:rPr>
              <a:t>Razorpay</a:t>
            </a:r>
            <a:r>
              <a:rPr lang="en-US" sz="2400" dirty="0">
                <a:solidFill>
                  <a:schemeClr val="bg2"/>
                </a:solidFill>
              </a:rPr>
              <a:t>)</a:t>
            </a:r>
          </a:p>
          <a:p>
            <a:pPr lvl="1"/>
            <a:endParaRPr lang="en-US" sz="2400" dirty="0">
              <a:solidFill>
                <a:schemeClr val="bg2"/>
              </a:solidFill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2"/>
                </a:solidFill>
              </a:rPr>
              <a:t>No promo code or coupon system</a:t>
            </a:r>
          </a:p>
          <a:p>
            <a:pPr lvl="1"/>
            <a:endParaRPr lang="en-US" sz="2400" dirty="0">
              <a:solidFill>
                <a:schemeClr val="bg2"/>
              </a:solidFill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2"/>
                </a:solidFill>
              </a:rPr>
              <a:t>Not optimized for high traffic yet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223EA1-D8D9-4361-69FF-BD8D12E340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BB6054F-4A61-08CC-EF79-4CB9A4EAE83D}"/>
              </a:ext>
            </a:extLst>
          </p:cNvPr>
          <p:cNvSpPr/>
          <p:nvPr/>
        </p:nvSpPr>
        <p:spPr>
          <a:xfrm>
            <a:off x="864037" y="1291590"/>
            <a:ext cx="5486400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5400"/>
              </a:lnSpc>
            </a:pPr>
            <a:r>
              <a:rPr lang="en-US" sz="4400" b="1" dirty="0">
                <a:solidFill>
                  <a:schemeClr val="bg2"/>
                </a:solidFill>
              </a:rPr>
              <a:t>Future Scope</a:t>
            </a:r>
            <a:endParaRPr lang="en-US" sz="4300" b="1" dirty="0">
              <a:solidFill>
                <a:schemeClr val="bg2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87902D7-3631-A486-9F2A-3CE0C10B68EC}"/>
              </a:ext>
            </a:extLst>
          </p:cNvPr>
          <p:cNvSpPr txBox="1"/>
          <p:nvPr/>
        </p:nvSpPr>
        <p:spPr>
          <a:xfrm>
            <a:off x="1485900" y="2370475"/>
            <a:ext cx="7315200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2"/>
                </a:solidFill>
              </a:rPr>
              <a:t>Real-time GPS tracking</a:t>
            </a:r>
          </a:p>
          <a:p>
            <a:endParaRPr lang="en-US" sz="2400" dirty="0">
              <a:solidFill>
                <a:schemeClr val="bg2"/>
              </a:solidFill>
            </a:endParaRPr>
          </a:p>
          <a:p>
            <a:r>
              <a:rPr lang="en-US" sz="2400" dirty="0">
                <a:solidFill>
                  <a:schemeClr val="bg2"/>
                </a:solidFill>
              </a:rPr>
              <a:t>Multi-admin and restaurant dashboards</a:t>
            </a:r>
          </a:p>
          <a:p>
            <a:endParaRPr lang="en-US" sz="2400" dirty="0">
              <a:solidFill>
                <a:schemeClr val="bg2"/>
              </a:solidFill>
            </a:endParaRPr>
          </a:p>
          <a:p>
            <a:r>
              <a:rPr lang="en-US" sz="2400" dirty="0">
                <a:solidFill>
                  <a:schemeClr val="bg2"/>
                </a:solidFill>
              </a:rPr>
              <a:t>SMS/Email updates</a:t>
            </a:r>
          </a:p>
          <a:p>
            <a:endParaRPr lang="en-US" sz="2400" dirty="0">
              <a:solidFill>
                <a:schemeClr val="bg2"/>
              </a:solidFill>
            </a:endParaRPr>
          </a:p>
          <a:p>
            <a:r>
              <a:rPr lang="en-US" sz="2400" dirty="0">
                <a:solidFill>
                  <a:schemeClr val="bg2"/>
                </a:solidFill>
              </a:rPr>
              <a:t>Loyalty programs, Coupons</a:t>
            </a:r>
          </a:p>
          <a:p>
            <a:endParaRPr lang="en-US" sz="2400" dirty="0">
              <a:solidFill>
                <a:schemeClr val="bg2"/>
              </a:solidFill>
            </a:endParaRPr>
          </a:p>
          <a:p>
            <a:r>
              <a:rPr lang="en-US" sz="2400" dirty="0">
                <a:solidFill>
                  <a:schemeClr val="bg2"/>
                </a:solidFill>
              </a:rPr>
              <a:t>Scheduled orders and dietary filters</a:t>
            </a:r>
          </a:p>
          <a:p>
            <a:endParaRPr lang="en-US" sz="2400" dirty="0">
              <a:solidFill>
                <a:schemeClr val="bg2"/>
              </a:solidFill>
            </a:endParaRPr>
          </a:p>
          <a:p>
            <a:r>
              <a:rPr lang="en-US" sz="2400" dirty="0">
                <a:solidFill>
                  <a:schemeClr val="bg2"/>
                </a:solidFill>
              </a:rPr>
              <a:t>Restaurant analytics and driver management</a:t>
            </a:r>
          </a:p>
          <a:p>
            <a:endParaRPr lang="en-US" sz="2400" dirty="0">
              <a:solidFill>
                <a:schemeClr val="bg2"/>
              </a:solidFill>
            </a:endParaRPr>
          </a:p>
          <a:p>
            <a:r>
              <a:rPr lang="en-US" sz="2400" dirty="0">
                <a:solidFill>
                  <a:schemeClr val="bg2"/>
                </a:solidFill>
              </a:rPr>
              <a:t>AI-based recommendations</a:t>
            </a:r>
          </a:p>
        </p:txBody>
      </p:sp>
    </p:spTree>
    <p:extLst>
      <p:ext uri="{BB962C8B-B14F-4D97-AF65-F5344CB8AC3E}">
        <p14:creationId xmlns:p14="http://schemas.microsoft.com/office/powerpoint/2010/main" val="27310944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4759EE-4709-08EE-7437-A2951C1448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FEBBA3A-3B69-1665-8D71-1DF3D39D4759}"/>
              </a:ext>
            </a:extLst>
          </p:cNvPr>
          <p:cNvSpPr/>
          <p:nvPr/>
        </p:nvSpPr>
        <p:spPr>
          <a:xfrm>
            <a:off x="4954012" y="3781900"/>
            <a:ext cx="4722375" cy="665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5400"/>
              </a:lnSpc>
            </a:pPr>
            <a:r>
              <a:rPr lang="en-US" sz="7200" b="1" dirty="0">
                <a:solidFill>
                  <a:schemeClr val="bg2"/>
                </a:solidFill>
              </a:rPr>
              <a:t>Thank You</a:t>
            </a:r>
          </a:p>
          <a:p>
            <a:pPr>
              <a:lnSpc>
                <a:spcPts val="5400"/>
              </a:lnSpc>
            </a:pPr>
            <a:endParaRPr lang="en-US" sz="4000" b="1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534911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54567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2708" y="3410545"/>
            <a:ext cx="6510576" cy="565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Future Features &amp; Conclusion</a:t>
            </a:r>
            <a:endParaRPr lang="en-US" sz="3550" dirty="0"/>
          </a:p>
        </p:txBody>
      </p:sp>
      <p:sp>
        <p:nvSpPr>
          <p:cNvPr id="4" name="Shape 1"/>
          <p:cNvSpPr/>
          <p:nvPr/>
        </p:nvSpPr>
        <p:spPr>
          <a:xfrm>
            <a:off x="712708" y="4281607"/>
            <a:ext cx="4265890" cy="2202180"/>
          </a:xfrm>
          <a:prstGeom prst="roundRect">
            <a:avLst>
              <a:gd name="adj" fmla="val 3884"/>
            </a:avLst>
          </a:prstGeom>
          <a:solidFill>
            <a:srgbClr val="542C49"/>
          </a:solidFill>
          <a:ln w="7620">
            <a:solidFill>
              <a:srgbClr val="6D4562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923925" y="4492823"/>
            <a:ext cx="2969181" cy="2828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User-Facing Enhancements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923925" y="4897874"/>
            <a:ext cx="3843457" cy="6517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Personalized recommendations and real-time order tracking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923925" y="5620822"/>
            <a:ext cx="3843457" cy="6517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In-app chat support, reviews, loyalty programs, and scheduling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182195" y="4281607"/>
            <a:ext cx="4265890" cy="2202180"/>
          </a:xfrm>
          <a:prstGeom prst="roundRect">
            <a:avLst>
              <a:gd name="adj" fmla="val 3884"/>
            </a:avLst>
          </a:prstGeom>
          <a:solidFill>
            <a:srgbClr val="542C49"/>
          </a:solidFill>
          <a:ln w="7620">
            <a:solidFill>
              <a:srgbClr val="6D456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393412" y="4492823"/>
            <a:ext cx="3820477" cy="2828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Restaurant &amp; Operational Features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5393412" y="4897874"/>
            <a:ext cx="3843457" cy="6517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Dashboard, order and menu management, analytics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5393412" y="5620822"/>
            <a:ext cx="3843457" cy="6517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Automated dispatch, traffic updates, and delivery driver tools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9651683" y="4281607"/>
            <a:ext cx="4265890" cy="2202180"/>
          </a:xfrm>
          <a:prstGeom prst="roundRect">
            <a:avLst>
              <a:gd name="adj" fmla="val 3884"/>
            </a:avLst>
          </a:prstGeom>
          <a:solidFill>
            <a:srgbClr val="542C49"/>
          </a:solidFill>
          <a:ln w="7620">
            <a:solidFill>
              <a:srgbClr val="6D456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862899" y="4492823"/>
            <a:ext cx="2262902" cy="2828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Payment &amp; Security</a:t>
            </a:r>
            <a:endParaRPr lang="en-US" sz="1750" dirty="0"/>
          </a:p>
        </p:txBody>
      </p:sp>
      <p:sp>
        <p:nvSpPr>
          <p:cNvPr id="14" name="Text 11"/>
          <p:cNvSpPr/>
          <p:nvPr/>
        </p:nvSpPr>
        <p:spPr>
          <a:xfrm>
            <a:off x="9862899" y="4897874"/>
            <a:ext cx="3843457" cy="6517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Secure processing, multiple payment options, refund policies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9862899" y="5620822"/>
            <a:ext cx="3843457" cy="6517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Third-party integrations, AI, and data analytics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712708" y="6712863"/>
            <a:ext cx="13204984" cy="6517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The Foodify MERN stack project delivers a robust, scalable, and user-friendly food delivery platform. It streamlines ordering, improves customer satisfaction, and supports efficient restaurant and delivery management. Future enhancements will further enrich the user experience and operational efficiency.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636</Words>
  <Application>Microsoft Office PowerPoint</Application>
  <PresentationFormat>Custom</PresentationFormat>
  <Paragraphs>124</Paragraphs>
  <Slides>15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Calibri</vt:lpstr>
      <vt:lpstr>Prompt Medium</vt:lpstr>
      <vt:lpstr>Mukta Light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Rahul Kumar</cp:lastModifiedBy>
  <cp:revision>4</cp:revision>
  <dcterms:created xsi:type="dcterms:W3CDTF">2025-05-07T12:23:41Z</dcterms:created>
  <dcterms:modified xsi:type="dcterms:W3CDTF">2025-07-07T09:06:12Z</dcterms:modified>
</cp:coreProperties>
</file>